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585215" y="1234439"/>
            <a:ext cx="9107425" cy="221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3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СТАТУС ПО ПРОЕКТУ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548639" y="1600200"/>
            <a:ext cx="10936225" cy="80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585215" y="2651760"/>
            <a:ext cx="9564625" cy="842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Цифровой паспорт квартиры: техника, документы, показания и отметка платежа.</a:t>
            </a:r>
          </a:p>
          <a:p>
            <a:pPr>
              <a:defRPr sz="16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Арендодатель, наниматель и жилец-владелец</a:t>
            </a:r>
          </a:p>
        </p:txBody>
      </p:sp>
      <p:sp>
        <p:nvSpPr>
          <p:cNvPr id="98" name="Rectangle 5"/>
          <p:cNvSpPr/>
          <p:nvPr/>
        </p:nvSpPr>
        <p:spPr>
          <a:xfrm>
            <a:off x="566927" y="4709159"/>
            <a:ext cx="2651762" cy="1234441"/>
          </a:xfrm>
          <a:prstGeom prst="rect">
            <a:avLst/>
          </a:prstGeom>
          <a:solidFill>
            <a:srgbClr val="244E6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6"/>
          <p:cNvSpPr txBox="1"/>
          <p:nvPr/>
        </p:nvSpPr>
        <p:spPr>
          <a:xfrm>
            <a:off x="731519" y="4828032"/>
            <a:ext cx="2322578" cy="49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731519" y="5440679"/>
            <a:ext cx="2322578" cy="23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процессов на Go</a:t>
            </a:r>
          </a:p>
        </p:txBody>
      </p:sp>
      <p:sp>
        <p:nvSpPr>
          <p:cNvPr id="101" name="Rectangle 8"/>
          <p:cNvSpPr/>
          <p:nvPr/>
        </p:nvSpPr>
        <p:spPr>
          <a:xfrm>
            <a:off x="3401567" y="4709159"/>
            <a:ext cx="2651761" cy="1234441"/>
          </a:xfrm>
          <a:prstGeom prst="rect">
            <a:avLst/>
          </a:prstGeom>
          <a:solidFill>
            <a:srgbClr val="244E6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extBox 9"/>
          <p:cNvSpPr txBox="1"/>
          <p:nvPr/>
        </p:nvSpPr>
        <p:spPr>
          <a:xfrm>
            <a:off x="3566159" y="4828032"/>
            <a:ext cx="2322577" cy="49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03" name="TextBox 10"/>
          <p:cNvSpPr txBox="1"/>
          <p:nvPr/>
        </p:nvSpPr>
        <p:spPr>
          <a:xfrm>
            <a:off x="3566159" y="5440679"/>
            <a:ext cx="2322577" cy="23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своих Postgres</a:t>
            </a:r>
          </a:p>
        </p:txBody>
      </p:sp>
      <p:sp>
        <p:nvSpPr>
          <p:cNvPr id="104" name="Rectangle 11"/>
          <p:cNvSpPr/>
          <p:nvPr/>
        </p:nvSpPr>
        <p:spPr>
          <a:xfrm>
            <a:off x="6236208" y="4709159"/>
            <a:ext cx="2651761" cy="1234441"/>
          </a:xfrm>
          <a:prstGeom prst="rect">
            <a:avLst/>
          </a:prstGeom>
          <a:solidFill>
            <a:srgbClr val="244E6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12"/>
          <p:cNvSpPr txBox="1"/>
          <p:nvPr/>
        </p:nvSpPr>
        <p:spPr>
          <a:xfrm>
            <a:off x="6400799" y="4828032"/>
            <a:ext cx="2322578" cy="49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6" name="TextBox 13"/>
          <p:cNvSpPr txBox="1"/>
          <p:nvPr/>
        </p:nvSpPr>
        <p:spPr>
          <a:xfrm>
            <a:off x="6400799" y="5440679"/>
            <a:ext cx="2322578" cy="23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узла JetStream</a:t>
            </a:r>
          </a:p>
        </p:txBody>
      </p:sp>
      <p:sp>
        <p:nvSpPr>
          <p:cNvPr id="107" name="Rectangle 14"/>
          <p:cNvSpPr/>
          <p:nvPr/>
        </p:nvSpPr>
        <p:spPr>
          <a:xfrm>
            <a:off x="9070847" y="4709159"/>
            <a:ext cx="2651761" cy="1234441"/>
          </a:xfrm>
          <a:prstGeom prst="rect">
            <a:avLst/>
          </a:prstGeom>
          <a:solidFill>
            <a:srgbClr val="244E6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15"/>
          <p:cNvSpPr txBox="1"/>
          <p:nvPr/>
        </p:nvSpPr>
        <p:spPr>
          <a:xfrm>
            <a:off x="9235440" y="4828032"/>
            <a:ext cx="2322577" cy="49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9" name="TextBox 16"/>
          <p:cNvSpPr txBox="1"/>
          <p:nvPr/>
        </p:nvSpPr>
        <p:spPr>
          <a:xfrm>
            <a:off x="9235440" y="5440679"/>
            <a:ext cx="2322577" cy="23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вход: api-gateway</a:t>
            </a:r>
          </a:p>
        </p:txBody>
      </p:sp>
      <p:sp>
        <p:nvSpPr>
          <p:cNvPr id="110" name="Rectangle 17"/>
          <p:cNvSpPr/>
          <p:nvPr/>
        </p:nvSpPr>
        <p:spPr>
          <a:xfrm>
            <a:off x="438912" y="6472174"/>
            <a:ext cx="11320272" cy="12701"/>
          </a:xfrm>
          <a:prstGeom prst="rect">
            <a:avLst/>
          </a:prstGeom>
          <a:solidFill>
            <a:srgbClr val="244E6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18"/>
          <p:cNvSpPr txBox="1"/>
          <p:nvPr/>
        </p:nvSpPr>
        <p:spPr>
          <a:xfrm>
            <a:off x="457200" y="6510528"/>
            <a:ext cx="54498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112" name="TextBox 19"/>
          <p:cNvSpPr txBox="1"/>
          <p:nvPr/>
        </p:nvSpPr>
        <p:spPr>
          <a:xfrm>
            <a:off x="8705088" y="6510528"/>
            <a:ext cx="3026664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defRPr sz="11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 / 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BF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2"/>
          <p:cNvSpPr/>
          <p:nvPr/>
        </p:nvSpPr>
        <p:spPr>
          <a:xfrm>
            <a:off x="-1" y="0"/>
            <a:ext cx="73154" cy="6858000"/>
          </a:xfrm>
          <a:prstGeom prst="rect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3"/>
          <p:cNvSpPr txBox="1"/>
          <p:nvPr/>
        </p:nvSpPr>
        <p:spPr>
          <a:xfrm>
            <a:off x="402335" y="201168"/>
            <a:ext cx="72786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117" name="TextBox 4"/>
          <p:cNvSpPr txBox="1"/>
          <p:nvPr/>
        </p:nvSpPr>
        <p:spPr>
          <a:xfrm>
            <a:off x="402336" y="420623"/>
            <a:ext cx="11301984" cy="431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Что уже есть</a:t>
            </a:r>
          </a:p>
        </p:txBody>
      </p:sp>
      <p:sp>
        <p:nvSpPr>
          <p:cNvPr id="118" name="Rectangle 5"/>
          <p:cNvSpPr/>
          <p:nvPr/>
        </p:nvSpPr>
        <p:spPr>
          <a:xfrm>
            <a:off x="384047" y="1115567"/>
            <a:ext cx="5623562" cy="1554481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6"/>
          <p:cNvSpPr txBox="1"/>
          <p:nvPr/>
        </p:nvSpPr>
        <p:spPr>
          <a:xfrm>
            <a:off x="566928" y="1243583"/>
            <a:ext cx="1060705" cy="23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20" name="TextBox 7"/>
          <p:cNvSpPr txBox="1"/>
          <p:nvPr/>
        </p:nvSpPr>
        <p:spPr>
          <a:xfrm>
            <a:off x="566928" y="1572767"/>
            <a:ext cx="5221225" cy="295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C4-модель</a:t>
            </a:r>
          </a:p>
        </p:txBody>
      </p:sp>
      <p:sp>
        <p:nvSpPr>
          <p:cNvPr id="121" name="TextBox 8"/>
          <p:cNvSpPr txBox="1"/>
          <p:nvPr/>
        </p:nvSpPr>
        <p:spPr>
          <a:xfrm>
            <a:off x="566928" y="1956816"/>
            <a:ext cx="5221225" cy="437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Двенадцать доменов, уровни C1–C3. Квартира разрезана на шесть сервисов.</a:t>
            </a:r>
          </a:p>
        </p:txBody>
      </p:sp>
      <p:sp>
        <p:nvSpPr>
          <p:cNvPr id="122" name="Rectangle 9"/>
          <p:cNvSpPr/>
          <p:nvPr/>
        </p:nvSpPr>
        <p:spPr>
          <a:xfrm>
            <a:off x="384047" y="2807207"/>
            <a:ext cx="5623562" cy="1554481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10"/>
          <p:cNvSpPr txBox="1"/>
          <p:nvPr/>
        </p:nvSpPr>
        <p:spPr>
          <a:xfrm>
            <a:off x="566928" y="2935223"/>
            <a:ext cx="1060705" cy="23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24" name="TextBox 11"/>
          <p:cNvSpPr txBox="1"/>
          <p:nvPr/>
        </p:nvSpPr>
        <p:spPr>
          <a:xfrm>
            <a:off x="566928" y="3264408"/>
            <a:ext cx="5221225" cy="295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Dummy каждого сервиса</a:t>
            </a:r>
          </a:p>
        </p:txBody>
      </p:sp>
      <p:sp>
        <p:nvSpPr>
          <p:cNvPr id="125" name="TextBox 12"/>
          <p:cNvSpPr txBox="1"/>
          <p:nvPr/>
        </p:nvSpPr>
        <p:spPr>
          <a:xfrm>
            <a:off x="566928" y="3648455"/>
            <a:ext cx="5221225" cy="437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Свой бинарь на Go. Снаружи только GET /ping. Соединения с базой и NATS пока не открывает.</a:t>
            </a:r>
          </a:p>
        </p:txBody>
      </p:sp>
      <p:sp>
        <p:nvSpPr>
          <p:cNvPr id="126" name="Rectangle 13"/>
          <p:cNvSpPr/>
          <p:nvPr/>
        </p:nvSpPr>
        <p:spPr>
          <a:xfrm>
            <a:off x="384047" y="4498847"/>
            <a:ext cx="5623562" cy="1554481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14"/>
          <p:cNvSpPr txBox="1"/>
          <p:nvPr/>
        </p:nvSpPr>
        <p:spPr>
          <a:xfrm>
            <a:off x="566928" y="4626864"/>
            <a:ext cx="1060705" cy="233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8" name="TextBox 15"/>
          <p:cNvSpPr txBox="1"/>
          <p:nvPr/>
        </p:nvSpPr>
        <p:spPr>
          <a:xfrm>
            <a:off x="566928" y="4956047"/>
            <a:ext cx="5221225" cy="295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Базы и шина</a:t>
            </a:r>
          </a:p>
        </p:txBody>
      </p:sp>
      <p:sp>
        <p:nvSpPr>
          <p:cNvPr id="129" name="TextBox 16"/>
          <p:cNvSpPr txBox="1"/>
          <p:nvPr/>
        </p:nvSpPr>
        <p:spPr>
          <a:xfrm>
            <a:off x="566928" y="5340096"/>
            <a:ext cx="5221225" cy="437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Postgres 16 на каждый домен, кроме gateway. NATS из трёх узлов. MinIO вместо S3.</a:t>
            </a:r>
          </a:p>
        </p:txBody>
      </p:sp>
      <p:sp>
        <p:nvSpPr>
          <p:cNvPr id="130" name="Rectangle 17"/>
          <p:cNvSpPr/>
          <p:nvPr/>
        </p:nvSpPr>
        <p:spPr>
          <a:xfrm>
            <a:off x="6236207" y="1115567"/>
            <a:ext cx="5623562" cy="1554481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18"/>
          <p:cNvSpPr txBox="1"/>
          <p:nvPr/>
        </p:nvSpPr>
        <p:spPr>
          <a:xfrm>
            <a:off x="6419087" y="1243583"/>
            <a:ext cx="1060706" cy="23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32" name="TextBox 19"/>
          <p:cNvSpPr txBox="1"/>
          <p:nvPr/>
        </p:nvSpPr>
        <p:spPr>
          <a:xfrm>
            <a:off x="6419088" y="1572767"/>
            <a:ext cx="5221224" cy="295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Описание проекта</a:t>
            </a:r>
          </a:p>
        </p:txBody>
      </p:sp>
      <p:sp>
        <p:nvSpPr>
          <p:cNvPr id="133" name="TextBox 20"/>
          <p:cNvSpPr txBox="1"/>
          <p:nvPr/>
        </p:nvSpPr>
        <p:spPr>
          <a:xfrm>
            <a:off x="6419088" y="1956816"/>
            <a:ext cx="5221224" cy="437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PRD, SRS, пользовательские истории, матрица трассировки и one-pager.</a:t>
            </a:r>
          </a:p>
        </p:txBody>
      </p:sp>
      <p:sp>
        <p:nvSpPr>
          <p:cNvPr id="134" name="Rectangle 21"/>
          <p:cNvSpPr/>
          <p:nvPr/>
        </p:nvSpPr>
        <p:spPr>
          <a:xfrm>
            <a:off x="6236207" y="2807207"/>
            <a:ext cx="5623562" cy="1554481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22"/>
          <p:cNvSpPr txBox="1"/>
          <p:nvPr/>
        </p:nvSpPr>
        <p:spPr>
          <a:xfrm>
            <a:off x="6419087" y="2935223"/>
            <a:ext cx="1060706" cy="23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6" name="TextBox 23"/>
          <p:cNvSpPr txBox="1"/>
          <p:nvPr/>
        </p:nvSpPr>
        <p:spPr>
          <a:xfrm>
            <a:off x="6419088" y="3264408"/>
            <a:ext cx="5221224" cy="295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План работ</a:t>
            </a:r>
          </a:p>
        </p:txBody>
      </p:sp>
      <p:sp>
        <p:nvSpPr>
          <p:cNvPr id="137" name="TextBox 24"/>
          <p:cNvSpPr txBox="1"/>
          <p:nvPr/>
        </p:nvSpPr>
        <p:spPr>
          <a:xfrm>
            <a:off x="6419088" y="3648455"/>
            <a:ext cx="5221224" cy="437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Дальше: контракт, таблицы доменов, доставка фактов и внешние края.</a:t>
            </a:r>
          </a:p>
        </p:txBody>
      </p:sp>
      <p:sp>
        <p:nvSpPr>
          <p:cNvPr id="138" name="Rectangle 25"/>
          <p:cNvSpPr/>
          <p:nvPr/>
        </p:nvSpPr>
        <p:spPr>
          <a:xfrm>
            <a:off x="6236207" y="4498847"/>
            <a:ext cx="5623562" cy="1554481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6"/>
          <p:cNvSpPr txBox="1"/>
          <p:nvPr/>
        </p:nvSpPr>
        <p:spPr>
          <a:xfrm>
            <a:off x="6419087" y="4626864"/>
            <a:ext cx="1060706" cy="233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0" name="TextBox 27"/>
          <p:cNvSpPr txBox="1"/>
          <p:nvPr/>
        </p:nvSpPr>
        <p:spPr>
          <a:xfrm>
            <a:off x="6419088" y="4956047"/>
            <a:ext cx="5221224" cy="295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Очередь задач — River</a:t>
            </a:r>
          </a:p>
        </p:txBody>
      </p:sp>
      <p:sp>
        <p:nvSpPr>
          <p:cNvPr id="141" name="TextBox 28"/>
          <p:cNvSpPr txBox="1"/>
          <p:nvPr/>
        </p:nvSpPr>
        <p:spPr>
          <a:xfrm>
            <a:off x="6419088" y="5340096"/>
            <a:ext cx="5221224" cy="437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Очередь живёт в Postgres того домена, который породил работу. Отдельного кластера нет.</a:t>
            </a:r>
          </a:p>
        </p:txBody>
      </p:sp>
      <p:sp>
        <p:nvSpPr>
          <p:cNvPr id="142" name="Rectangle 29"/>
          <p:cNvSpPr/>
          <p:nvPr/>
        </p:nvSpPr>
        <p:spPr>
          <a:xfrm>
            <a:off x="438912" y="6472174"/>
            <a:ext cx="11320272" cy="12701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30"/>
          <p:cNvSpPr txBox="1"/>
          <p:nvPr/>
        </p:nvSpPr>
        <p:spPr>
          <a:xfrm>
            <a:off x="457200" y="6510528"/>
            <a:ext cx="54498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144" name="TextBox 31"/>
          <p:cNvSpPr txBox="1"/>
          <p:nvPr/>
        </p:nvSpPr>
        <p:spPr>
          <a:xfrm>
            <a:off x="8705088" y="6510528"/>
            <a:ext cx="3026664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  / 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BF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Rectangle 2"/>
          <p:cNvSpPr/>
          <p:nvPr/>
        </p:nvSpPr>
        <p:spPr>
          <a:xfrm>
            <a:off x="-1" y="0"/>
            <a:ext cx="73154" cy="6858000"/>
          </a:xfrm>
          <a:prstGeom prst="rect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3"/>
          <p:cNvSpPr txBox="1"/>
          <p:nvPr/>
        </p:nvSpPr>
        <p:spPr>
          <a:xfrm>
            <a:off x="402335" y="201168"/>
            <a:ext cx="72786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149" name="TextBox 4"/>
          <p:cNvSpPr txBox="1"/>
          <p:nvPr/>
        </p:nvSpPr>
        <p:spPr>
          <a:xfrm>
            <a:off x="402336" y="420623"/>
            <a:ext cx="11301984" cy="431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Схема C2. Контейнеры</a:t>
            </a:r>
          </a:p>
        </p:txBody>
      </p:sp>
      <p:sp>
        <p:nvSpPr>
          <p:cNvPr id="150" name="TextBox 5"/>
          <p:cNvSpPr txBox="1"/>
          <p:nvPr/>
        </p:nvSpPr>
        <p:spPr>
          <a:xfrm>
            <a:off x="402336" y="896111"/>
            <a:ext cx="11301984" cy="46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Телефон ходит только в api-gateway. Сверху вниз — синхронный вызов. Факты между доменами едут через JetStream после коммита.</a:t>
            </a:r>
          </a:p>
        </p:txBody>
      </p:sp>
      <p:sp>
        <p:nvSpPr>
          <p:cNvPr id="151" name="TextBox 6"/>
          <p:cNvSpPr txBox="1"/>
          <p:nvPr/>
        </p:nvSpPr>
        <p:spPr>
          <a:xfrm>
            <a:off x="384047" y="1632664"/>
            <a:ext cx="12344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Клиенты</a:t>
            </a:r>
          </a:p>
        </p:txBody>
      </p:sp>
      <p:sp>
        <p:nvSpPr>
          <p:cNvPr id="152" name="Rectangle 7"/>
          <p:cNvSpPr/>
          <p:nvPr/>
        </p:nvSpPr>
        <p:spPr>
          <a:xfrm>
            <a:off x="1737359" y="1481327"/>
            <a:ext cx="4969766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8"/>
          <p:cNvSpPr txBox="1"/>
          <p:nvPr/>
        </p:nvSpPr>
        <p:spPr>
          <a:xfrm>
            <a:off x="1773935" y="1626522"/>
            <a:ext cx="4896614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iOS</a:t>
            </a:r>
          </a:p>
        </p:txBody>
      </p:sp>
      <p:sp>
        <p:nvSpPr>
          <p:cNvPr id="154" name="Rectangle 9"/>
          <p:cNvSpPr/>
          <p:nvPr/>
        </p:nvSpPr>
        <p:spPr>
          <a:xfrm>
            <a:off x="6780275" y="1481327"/>
            <a:ext cx="4969765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0"/>
          <p:cNvSpPr txBox="1"/>
          <p:nvPr/>
        </p:nvSpPr>
        <p:spPr>
          <a:xfrm>
            <a:off x="6816851" y="1626522"/>
            <a:ext cx="489661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Android</a:t>
            </a:r>
          </a:p>
        </p:txBody>
      </p:sp>
      <p:sp>
        <p:nvSpPr>
          <p:cNvPr id="156" name="Rectangle 11"/>
          <p:cNvSpPr/>
          <p:nvPr/>
        </p:nvSpPr>
        <p:spPr>
          <a:xfrm>
            <a:off x="1901951" y="1956816"/>
            <a:ext cx="13717" cy="82297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12"/>
          <p:cNvSpPr txBox="1"/>
          <p:nvPr/>
        </p:nvSpPr>
        <p:spPr>
          <a:xfrm>
            <a:off x="384047" y="2190448"/>
            <a:ext cx="12344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Край</a:t>
            </a:r>
          </a:p>
        </p:txBody>
      </p:sp>
      <p:sp>
        <p:nvSpPr>
          <p:cNvPr id="158" name="Rectangle 13"/>
          <p:cNvSpPr/>
          <p:nvPr/>
        </p:nvSpPr>
        <p:spPr>
          <a:xfrm>
            <a:off x="1737359" y="2039111"/>
            <a:ext cx="10012682" cy="475488"/>
          </a:xfrm>
          <a:prstGeom prst="rect">
            <a:avLst/>
          </a:prstGeom>
          <a:solidFill>
            <a:srgbClr val="1B3A4B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14"/>
          <p:cNvSpPr txBox="1"/>
          <p:nvPr/>
        </p:nvSpPr>
        <p:spPr>
          <a:xfrm>
            <a:off x="1773935" y="2089402"/>
            <a:ext cx="9939530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api-gateway</a:t>
            </a:r>
          </a:p>
          <a:p>
            <a:pPr algn="ctr">
              <a:defRPr sz="1100">
                <a:solidFill>
                  <a:srgbClr val="C5D4D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JWT, маршруты, экран арендодателя</a:t>
            </a:r>
          </a:p>
        </p:txBody>
      </p:sp>
      <p:sp>
        <p:nvSpPr>
          <p:cNvPr id="160" name="Rectangle 15"/>
          <p:cNvSpPr/>
          <p:nvPr/>
        </p:nvSpPr>
        <p:spPr>
          <a:xfrm>
            <a:off x="1901951" y="2514599"/>
            <a:ext cx="13717" cy="82298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16"/>
          <p:cNvSpPr txBox="1"/>
          <p:nvPr/>
        </p:nvSpPr>
        <p:spPr>
          <a:xfrm>
            <a:off x="384047" y="2748232"/>
            <a:ext cx="12344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Вход</a:t>
            </a:r>
          </a:p>
        </p:txBody>
      </p:sp>
      <p:sp>
        <p:nvSpPr>
          <p:cNvPr id="162" name="Rectangle 17"/>
          <p:cNvSpPr/>
          <p:nvPr/>
        </p:nvSpPr>
        <p:spPr>
          <a:xfrm>
            <a:off x="1737359" y="2596895"/>
            <a:ext cx="4969766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18"/>
          <p:cNvSpPr txBox="1"/>
          <p:nvPr/>
        </p:nvSpPr>
        <p:spPr>
          <a:xfrm>
            <a:off x="1773935" y="2647186"/>
            <a:ext cx="4896614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identity</a:t>
            </a:r>
          </a:p>
          <a:p>
            <a:pPr algn="ct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сессия и код</a:t>
            </a:r>
          </a:p>
        </p:txBody>
      </p:sp>
      <p:sp>
        <p:nvSpPr>
          <p:cNvPr id="164" name="Rectangle 19"/>
          <p:cNvSpPr/>
          <p:nvPr/>
        </p:nvSpPr>
        <p:spPr>
          <a:xfrm>
            <a:off x="6780275" y="2596895"/>
            <a:ext cx="4969765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20"/>
          <p:cNvSpPr txBox="1"/>
          <p:nvPr/>
        </p:nvSpPr>
        <p:spPr>
          <a:xfrm>
            <a:off x="6816851" y="2647186"/>
            <a:ext cx="4896613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billing</a:t>
            </a:r>
          </a:p>
          <a:p>
            <a:pPr algn="ct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Premium и лимит</a:t>
            </a:r>
          </a:p>
        </p:txBody>
      </p:sp>
      <p:sp>
        <p:nvSpPr>
          <p:cNvPr id="166" name="Rectangle 21"/>
          <p:cNvSpPr/>
          <p:nvPr/>
        </p:nvSpPr>
        <p:spPr>
          <a:xfrm>
            <a:off x="1901951" y="3072383"/>
            <a:ext cx="13717" cy="82297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2"/>
          <p:cNvSpPr txBox="1"/>
          <p:nvPr/>
        </p:nvSpPr>
        <p:spPr>
          <a:xfrm>
            <a:off x="384047" y="3306015"/>
            <a:ext cx="12344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Доступ</a:t>
            </a:r>
          </a:p>
        </p:txBody>
      </p:sp>
      <p:sp>
        <p:nvSpPr>
          <p:cNvPr id="168" name="Rectangle 23"/>
          <p:cNvSpPr/>
          <p:nvPr/>
        </p:nvSpPr>
        <p:spPr>
          <a:xfrm>
            <a:off x="1737359" y="3154678"/>
            <a:ext cx="10012682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24"/>
          <p:cNvSpPr txBox="1"/>
          <p:nvPr/>
        </p:nvSpPr>
        <p:spPr>
          <a:xfrm>
            <a:off x="1773935" y="3204969"/>
            <a:ext cx="9939530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membership</a:t>
            </a:r>
          </a:p>
          <a:p>
            <a:pPr algn="ct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стороны, owner, приглашение</a:t>
            </a:r>
          </a:p>
        </p:txBody>
      </p:sp>
      <p:sp>
        <p:nvSpPr>
          <p:cNvPr id="170" name="Rectangle 25"/>
          <p:cNvSpPr/>
          <p:nvPr/>
        </p:nvSpPr>
        <p:spPr>
          <a:xfrm>
            <a:off x="1901951" y="3630167"/>
            <a:ext cx="13717" cy="82297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26"/>
          <p:cNvSpPr txBox="1"/>
          <p:nvPr/>
        </p:nvSpPr>
        <p:spPr>
          <a:xfrm>
            <a:off x="384047" y="3863799"/>
            <a:ext cx="12344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Квартира</a:t>
            </a:r>
          </a:p>
        </p:txBody>
      </p:sp>
      <p:sp>
        <p:nvSpPr>
          <p:cNvPr id="172" name="Rectangle 27"/>
          <p:cNvSpPr/>
          <p:nvPr/>
        </p:nvSpPr>
        <p:spPr>
          <a:xfrm>
            <a:off x="1737360" y="3712462"/>
            <a:ext cx="1607820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8"/>
          <p:cNvSpPr txBox="1"/>
          <p:nvPr/>
        </p:nvSpPr>
        <p:spPr>
          <a:xfrm>
            <a:off x="1773936" y="3857657"/>
            <a:ext cx="1534668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passport</a:t>
            </a:r>
          </a:p>
        </p:txBody>
      </p:sp>
      <p:sp>
        <p:nvSpPr>
          <p:cNvPr id="174" name="Rectangle 29"/>
          <p:cNvSpPr/>
          <p:nvPr/>
        </p:nvSpPr>
        <p:spPr>
          <a:xfrm>
            <a:off x="3418332" y="3712462"/>
            <a:ext cx="1607820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30"/>
          <p:cNvSpPr txBox="1"/>
          <p:nvPr/>
        </p:nvSpPr>
        <p:spPr>
          <a:xfrm>
            <a:off x="3454908" y="3857657"/>
            <a:ext cx="1534668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metering</a:t>
            </a:r>
          </a:p>
        </p:txBody>
      </p:sp>
      <p:sp>
        <p:nvSpPr>
          <p:cNvPr id="176" name="Rectangle 31"/>
          <p:cNvSpPr/>
          <p:nvPr/>
        </p:nvSpPr>
        <p:spPr>
          <a:xfrm>
            <a:off x="5099303" y="3712462"/>
            <a:ext cx="1607820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32"/>
          <p:cNvSpPr txBox="1"/>
          <p:nvPr/>
        </p:nvSpPr>
        <p:spPr>
          <a:xfrm>
            <a:off x="5135879" y="3857657"/>
            <a:ext cx="1534668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payments</a:t>
            </a:r>
          </a:p>
        </p:txBody>
      </p:sp>
      <p:sp>
        <p:nvSpPr>
          <p:cNvPr id="178" name="Rectangle 33"/>
          <p:cNvSpPr/>
          <p:nvPr/>
        </p:nvSpPr>
        <p:spPr>
          <a:xfrm>
            <a:off x="6780275" y="3712462"/>
            <a:ext cx="1607820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34"/>
          <p:cNvSpPr txBox="1"/>
          <p:nvPr/>
        </p:nvSpPr>
        <p:spPr>
          <a:xfrm>
            <a:off x="6816851" y="3857657"/>
            <a:ext cx="1534668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documents</a:t>
            </a:r>
          </a:p>
        </p:txBody>
      </p:sp>
      <p:sp>
        <p:nvSpPr>
          <p:cNvPr id="180" name="Rectangle 35"/>
          <p:cNvSpPr/>
          <p:nvPr/>
        </p:nvSpPr>
        <p:spPr>
          <a:xfrm>
            <a:off x="8461247" y="3712462"/>
            <a:ext cx="1607820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36"/>
          <p:cNvSpPr txBox="1"/>
          <p:nvPr/>
        </p:nvSpPr>
        <p:spPr>
          <a:xfrm>
            <a:off x="8497823" y="3857657"/>
            <a:ext cx="1534668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calendar</a:t>
            </a:r>
          </a:p>
        </p:txBody>
      </p:sp>
      <p:sp>
        <p:nvSpPr>
          <p:cNvPr id="182" name="Rectangle 37"/>
          <p:cNvSpPr/>
          <p:nvPr/>
        </p:nvSpPr>
        <p:spPr>
          <a:xfrm>
            <a:off x="10142219" y="3712462"/>
            <a:ext cx="1607820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38"/>
          <p:cNvSpPr txBox="1"/>
          <p:nvPr/>
        </p:nvSpPr>
        <p:spPr>
          <a:xfrm>
            <a:off x="10178795" y="3857657"/>
            <a:ext cx="1534668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history</a:t>
            </a:r>
          </a:p>
        </p:txBody>
      </p:sp>
      <p:sp>
        <p:nvSpPr>
          <p:cNvPr id="184" name="Rectangle 39"/>
          <p:cNvSpPr/>
          <p:nvPr/>
        </p:nvSpPr>
        <p:spPr>
          <a:xfrm>
            <a:off x="1901951" y="4187952"/>
            <a:ext cx="13717" cy="82297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40"/>
          <p:cNvSpPr txBox="1"/>
          <p:nvPr/>
        </p:nvSpPr>
        <p:spPr>
          <a:xfrm>
            <a:off x="384047" y="4421584"/>
            <a:ext cx="12344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Доставка</a:t>
            </a:r>
          </a:p>
        </p:txBody>
      </p:sp>
      <p:sp>
        <p:nvSpPr>
          <p:cNvPr id="186" name="Rectangle 41"/>
          <p:cNvSpPr/>
          <p:nvPr/>
        </p:nvSpPr>
        <p:spPr>
          <a:xfrm>
            <a:off x="1737359" y="4270247"/>
            <a:ext cx="4969766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42"/>
          <p:cNvSpPr txBox="1"/>
          <p:nvPr/>
        </p:nvSpPr>
        <p:spPr>
          <a:xfrm>
            <a:off x="1773935" y="4320538"/>
            <a:ext cx="4896614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JetStream</a:t>
            </a:r>
          </a:p>
          <a:p>
            <a:pPr algn="ct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факты между доменами, 3 узла</a:t>
            </a:r>
          </a:p>
        </p:txBody>
      </p:sp>
      <p:sp>
        <p:nvSpPr>
          <p:cNvPr id="188" name="Rectangle 43"/>
          <p:cNvSpPr/>
          <p:nvPr/>
        </p:nvSpPr>
        <p:spPr>
          <a:xfrm>
            <a:off x="6780275" y="4270247"/>
            <a:ext cx="4969765" cy="475488"/>
          </a:xfrm>
          <a:prstGeom prst="rect">
            <a:avLst/>
          </a:prstGeom>
          <a:solidFill>
            <a:srgbClr val="E7EEF2"/>
          </a:solidFill>
          <a:ln w="15875">
            <a:solidFill>
              <a:srgbClr val="1B3A4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44"/>
          <p:cNvSpPr txBox="1"/>
          <p:nvPr/>
        </p:nvSpPr>
        <p:spPr>
          <a:xfrm>
            <a:off x="6816851" y="4320538"/>
            <a:ext cx="4896613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River</a:t>
            </a:r>
          </a:p>
          <a:p>
            <a:pPr algn="ct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очередь в Postgres домена</a:t>
            </a:r>
          </a:p>
        </p:txBody>
      </p:sp>
      <p:sp>
        <p:nvSpPr>
          <p:cNvPr id="190" name="Rectangle 45"/>
          <p:cNvSpPr/>
          <p:nvPr/>
        </p:nvSpPr>
        <p:spPr>
          <a:xfrm>
            <a:off x="1901951" y="4745735"/>
            <a:ext cx="13717" cy="82297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46"/>
          <p:cNvSpPr txBox="1"/>
          <p:nvPr/>
        </p:nvSpPr>
        <p:spPr>
          <a:xfrm>
            <a:off x="384047" y="4979367"/>
            <a:ext cx="12344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Платформа</a:t>
            </a:r>
          </a:p>
        </p:txBody>
      </p:sp>
      <p:sp>
        <p:nvSpPr>
          <p:cNvPr id="192" name="Rectangle 47"/>
          <p:cNvSpPr/>
          <p:nvPr/>
        </p:nvSpPr>
        <p:spPr>
          <a:xfrm>
            <a:off x="1737359" y="4828030"/>
            <a:ext cx="3288793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48"/>
          <p:cNvSpPr txBox="1"/>
          <p:nvPr/>
        </p:nvSpPr>
        <p:spPr>
          <a:xfrm>
            <a:off x="1773935" y="4878321"/>
            <a:ext cx="3215641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media</a:t>
            </a:r>
          </a:p>
          <a:p>
            <a:pPr algn="ct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байты</a:t>
            </a:r>
          </a:p>
        </p:txBody>
      </p:sp>
      <p:sp>
        <p:nvSpPr>
          <p:cNvPr id="194" name="Rectangle 49"/>
          <p:cNvSpPr/>
          <p:nvPr/>
        </p:nvSpPr>
        <p:spPr>
          <a:xfrm>
            <a:off x="5099303" y="4828030"/>
            <a:ext cx="3288792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50"/>
          <p:cNvSpPr txBox="1"/>
          <p:nvPr/>
        </p:nvSpPr>
        <p:spPr>
          <a:xfrm>
            <a:off x="5135879" y="4878321"/>
            <a:ext cx="3215640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notification</a:t>
            </a:r>
          </a:p>
          <a:p>
            <a:pPr algn="ct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пуш</a:t>
            </a:r>
          </a:p>
        </p:txBody>
      </p:sp>
      <p:sp>
        <p:nvSpPr>
          <p:cNvPr id="196" name="Rectangle 51"/>
          <p:cNvSpPr/>
          <p:nvPr/>
        </p:nvSpPr>
        <p:spPr>
          <a:xfrm>
            <a:off x="8461247" y="4828030"/>
            <a:ext cx="3288792" cy="475488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52"/>
          <p:cNvSpPr txBox="1"/>
          <p:nvPr/>
        </p:nvSpPr>
        <p:spPr>
          <a:xfrm>
            <a:off x="8497823" y="4878321"/>
            <a:ext cx="3215640" cy="37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content</a:t>
            </a:r>
          </a:p>
          <a:p>
            <a:pPr algn="ct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карточки</a:t>
            </a:r>
          </a:p>
        </p:txBody>
      </p:sp>
      <p:sp>
        <p:nvSpPr>
          <p:cNvPr id="198" name="Rectangle 53"/>
          <p:cNvSpPr/>
          <p:nvPr/>
        </p:nvSpPr>
        <p:spPr>
          <a:xfrm>
            <a:off x="1901951" y="5303518"/>
            <a:ext cx="13717" cy="82297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54"/>
          <p:cNvSpPr txBox="1"/>
          <p:nvPr/>
        </p:nvSpPr>
        <p:spPr>
          <a:xfrm>
            <a:off x="384047" y="5537151"/>
            <a:ext cx="12344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Снаружи</a:t>
            </a:r>
          </a:p>
        </p:txBody>
      </p:sp>
      <p:sp>
        <p:nvSpPr>
          <p:cNvPr id="200" name="Rectangle 55"/>
          <p:cNvSpPr/>
          <p:nvPr/>
        </p:nvSpPr>
        <p:spPr>
          <a:xfrm>
            <a:off x="1737359" y="5385815"/>
            <a:ext cx="1944016" cy="475488"/>
          </a:xfrm>
          <a:prstGeom prst="rect">
            <a:avLst/>
          </a:prstGeom>
          <a:solidFill>
            <a:srgbClr val="FBF9F6"/>
          </a:solidFill>
          <a:ln w="12700">
            <a:solidFill>
              <a:srgbClr val="1B3A4B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56"/>
          <p:cNvSpPr txBox="1"/>
          <p:nvPr/>
        </p:nvSpPr>
        <p:spPr>
          <a:xfrm>
            <a:off x="1773935" y="5531009"/>
            <a:ext cx="1870864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SMS</a:t>
            </a:r>
          </a:p>
        </p:txBody>
      </p:sp>
      <p:sp>
        <p:nvSpPr>
          <p:cNvPr id="202" name="Rectangle 57"/>
          <p:cNvSpPr/>
          <p:nvPr/>
        </p:nvSpPr>
        <p:spPr>
          <a:xfrm>
            <a:off x="3754525" y="5385815"/>
            <a:ext cx="1944015" cy="475488"/>
          </a:xfrm>
          <a:prstGeom prst="rect">
            <a:avLst/>
          </a:prstGeom>
          <a:solidFill>
            <a:srgbClr val="FBF9F6"/>
          </a:solidFill>
          <a:ln w="12700">
            <a:solidFill>
              <a:srgbClr val="1B3A4B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58"/>
          <p:cNvSpPr txBox="1"/>
          <p:nvPr/>
        </p:nvSpPr>
        <p:spPr>
          <a:xfrm>
            <a:off x="3791101" y="5531009"/>
            <a:ext cx="187086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S3</a:t>
            </a:r>
          </a:p>
        </p:txBody>
      </p:sp>
      <p:sp>
        <p:nvSpPr>
          <p:cNvPr id="204" name="Rectangle 59"/>
          <p:cNvSpPr/>
          <p:nvPr/>
        </p:nvSpPr>
        <p:spPr>
          <a:xfrm>
            <a:off x="5771691" y="5385815"/>
            <a:ext cx="1944015" cy="475488"/>
          </a:xfrm>
          <a:prstGeom prst="rect">
            <a:avLst/>
          </a:prstGeom>
          <a:solidFill>
            <a:srgbClr val="FBF9F6"/>
          </a:solidFill>
          <a:ln w="12700">
            <a:solidFill>
              <a:srgbClr val="1B3A4B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60"/>
          <p:cNvSpPr txBox="1"/>
          <p:nvPr/>
        </p:nvSpPr>
        <p:spPr>
          <a:xfrm>
            <a:off x="5808267" y="5531009"/>
            <a:ext cx="187086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APNs / FCM</a:t>
            </a:r>
          </a:p>
        </p:txBody>
      </p:sp>
      <p:sp>
        <p:nvSpPr>
          <p:cNvPr id="206" name="Rectangle 61"/>
          <p:cNvSpPr/>
          <p:nvPr/>
        </p:nvSpPr>
        <p:spPr>
          <a:xfrm>
            <a:off x="7788858" y="5385815"/>
            <a:ext cx="1944015" cy="475488"/>
          </a:xfrm>
          <a:prstGeom prst="rect">
            <a:avLst/>
          </a:prstGeom>
          <a:solidFill>
            <a:srgbClr val="FBF9F6"/>
          </a:solidFill>
          <a:ln w="12700">
            <a:solidFill>
              <a:srgbClr val="1B3A4B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62"/>
          <p:cNvSpPr txBox="1"/>
          <p:nvPr/>
        </p:nvSpPr>
        <p:spPr>
          <a:xfrm>
            <a:off x="7825434" y="5531009"/>
            <a:ext cx="187086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Store</a:t>
            </a:r>
          </a:p>
        </p:txBody>
      </p:sp>
      <p:sp>
        <p:nvSpPr>
          <p:cNvPr id="208" name="Rectangle 63"/>
          <p:cNvSpPr/>
          <p:nvPr/>
        </p:nvSpPr>
        <p:spPr>
          <a:xfrm>
            <a:off x="9806024" y="5385815"/>
            <a:ext cx="1944015" cy="475488"/>
          </a:xfrm>
          <a:prstGeom prst="rect">
            <a:avLst/>
          </a:prstGeom>
          <a:solidFill>
            <a:srgbClr val="FBF9F6"/>
          </a:solidFill>
          <a:ln w="12700">
            <a:solidFill>
              <a:srgbClr val="1B3A4B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64"/>
          <p:cNvSpPr txBox="1"/>
          <p:nvPr/>
        </p:nvSpPr>
        <p:spPr>
          <a:xfrm>
            <a:off x="9842600" y="5531009"/>
            <a:ext cx="187086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Google Play</a:t>
            </a:r>
          </a:p>
        </p:txBody>
      </p:sp>
      <p:sp>
        <p:nvSpPr>
          <p:cNvPr id="210" name="Rectangle 65"/>
          <p:cNvSpPr/>
          <p:nvPr/>
        </p:nvSpPr>
        <p:spPr>
          <a:xfrm>
            <a:off x="1737360" y="6181344"/>
            <a:ext cx="164593" cy="164593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66"/>
          <p:cNvSpPr txBox="1"/>
          <p:nvPr/>
        </p:nvSpPr>
        <p:spPr>
          <a:xfrm>
            <a:off x="1956815" y="6186376"/>
            <a:ext cx="21031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Единственный вход</a:t>
            </a:r>
          </a:p>
        </p:txBody>
      </p:sp>
      <p:sp>
        <p:nvSpPr>
          <p:cNvPr id="212" name="Rectangle 67"/>
          <p:cNvSpPr/>
          <p:nvPr/>
        </p:nvSpPr>
        <p:spPr>
          <a:xfrm>
            <a:off x="4206240" y="6181344"/>
            <a:ext cx="164593" cy="164593"/>
          </a:xfrm>
          <a:prstGeom prst="rect">
            <a:avLst/>
          </a:prstGeom>
          <a:solidFill>
            <a:srgbClr val="F3F0EA"/>
          </a:solidFill>
          <a:ln w="12700">
            <a:solidFill>
              <a:srgbClr val="D9D4C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68"/>
          <p:cNvSpPr txBox="1"/>
          <p:nvPr/>
        </p:nvSpPr>
        <p:spPr>
          <a:xfrm>
            <a:off x="4425696" y="6186376"/>
            <a:ext cx="21031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Домен и его база</a:t>
            </a:r>
          </a:p>
        </p:txBody>
      </p:sp>
      <p:sp>
        <p:nvSpPr>
          <p:cNvPr id="214" name="Rectangle 69"/>
          <p:cNvSpPr/>
          <p:nvPr/>
        </p:nvSpPr>
        <p:spPr>
          <a:xfrm>
            <a:off x="6675119" y="6181344"/>
            <a:ext cx="164593" cy="164593"/>
          </a:xfrm>
          <a:prstGeom prst="rect">
            <a:avLst/>
          </a:prstGeom>
          <a:solidFill>
            <a:srgbClr val="FBF9F6"/>
          </a:solidFill>
          <a:ln w="12700">
            <a:solidFill>
              <a:srgbClr val="1B3A4B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70"/>
          <p:cNvSpPr txBox="1"/>
          <p:nvPr/>
        </p:nvSpPr>
        <p:spPr>
          <a:xfrm>
            <a:off x="6894576" y="6186376"/>
            <a:ext cx="21031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Чужая система</a:t>
            </a:r>
          </a:p>
        </p:txBody>
      </p:sp>
      <p:sp>
        <p:nvSpPr>
          <p:cNvPr id="216" name="Rectangle 71"/>
          <p:cNvSpPr/>
          <p:nvPr/>
        </p:nvSpPr>
        <p:spPr>
          <a:xfrm>
            <a:off x="438912" y="6472174"/>
            <a:ext cx="11320272" cy="12701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72"/>
          <p:cNvSpPr txBox="1"/>
          <p:nvPr/>
        </p:nvSpPr>
        <p:spPr>
          <a:xfrm>
            <a:off x="457200" y="6510528"/>
            <a:ext cx="54498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218" name="TextBox 73"/>
          <p:cNvSpPr txBox="1"/>
          <p:nvPr/>
        </p:nvSpPr>
        <p:spPr>
          <a:xfrm>
            <a:off x="8705088" y="6510528"/>
            <a:ext cx="3026664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 / 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BF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Rectangle 2"/>
          <p:cNvSpPr/>
          <p:nvPr/>
        </p:nvSpPr>
        <p:spPr>
          <a:xfrm>
            <a:off x="-1" y="0"/>
            <a:ext cx="73154" cy="6858000"/>
          </a:xfrm>
          <a:prstGeom prst="rect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3"/>
          <p:cNvSpPr txBox="1"/>
          <p:nvPr/>
        </p:nvSpPr>
        <p:spPr>
          <a:xfrm>
            <a:off x="402335" y="201168"/>
            <a:ext cx="72786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223" name="TextBox 4"/>
          <p:cNvSpPr txBox="1"/>
          <p:nvPr/>
        </p:nvSpPr>
        <p:spPr>
          <a:xfrm>
            <a:off x="402336" y="420623"/>
            <a:ext cx="11301984" cy="431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Сервисы и их роль</a:t>
            </a:r>
          </a:p>
        </p:txBody>
      </p:sp>
      <p:sp>
        <p:nvSpPr>
          <p:cNvPr id="224" name="TextBox 5"/>
          <p:cNvSpPr txBox="1"/>
          <p:nvPr/>
        </p:nvSpPr>
        <p:spPr>
          <a:xfrm>
            <a:off x="402336" y="896111"/>
            <a:ext cx="11301984" cy="2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Домен не читает чужие таблицы. Право на чужие данные спрашивают у membership.</a:t>
            </a:r>
          </a:p>
        </p:txBody>
      </p:sp>
      <p:sp>
        <p:nvSpPr>
          <p:cNvPr id="225" name="TextBox 6"/>
          <p:cNvSpPr txBox="1"/>
          <p:nvPr/>
        </p:nvSpPr>
        <p:spPr>
          <a:xfrm>
            <a:off x="402335" y="1389888"/>
            <a:ext cx="5541266" cy="233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Ядро квартиры</a:t>
            </a:r>
          </a:p>
        </p:txBody>
      </p:sp>
      <p:sp>
        <p:nvSpPr>
          <p:cNvPr id="226" name="Rectangle 7"/>
          <p:cNvSpPr/>
          <p:nvPr/>
        </p:nvSpPr>
        <p:spPr>
          <a:xfrm>
            <a:off x="384047" y="2366517"/>
            <a:ext cx="5623562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8"/>
          <p:cNvSpPr txBox="1"/>
          <p:nvPr/>
        </p:nvSpPr>
        <p:spPr>
          <a:xfrm>
            <a:off x="384047" y="1967852"/>
            <a:ext cx="16642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passport</a:t>
            </a:r>
          </a:p>
        </p:txBody>
      </p:sp>
      <p:sp>
        <p:nvSpPr>
          <p:cNvPr id="228" name="TextBox 9"/>
          <p:cNvSpPr txBox="1"/>
          <p:nvPr/>
        </p:nvSpPr>
        <p:spPr>
          <a:xfrm>
            <a:off x="2121407" y="1967852"/>
            <a:ext cx="3840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Квартира, комнаты и техника</a:t>
            </a:r>
          </a:p>
        </p:txBody>
      </p:sp>
      <p:sp>
        <p:nvSpPr>
          <p:cNvPr id="229" name="Rectangle 10"/>
          <p:cNvSpPr/>
          <p:nvPr/>
        </p:nvSpPr>
        <p:spPr>
          <a:xfrm>
            <a:off x="384047" y="2988310"/>
            <a:ext cx="5623562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11"/>
          <p:cNvSpPr txBox="1"/>
          <p:nvPr/>
        </p:nvSpPr>
        <p:spPr>
          <a:xfrm>
            <a:off x="384047" y="2589644"/>
            <a:ext cx="16642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metering</a:t>
            </a:r>
          </a:p>
        </p:txBody>
      </p:sp>
      <p:sp>
        <p:nvSpPr>
          <p:cNvPr id="231" name="TextBox 12"/>
          <p:cNvSpPr txBox="1"/>
          <p:nvPr/>
        </p:nvSpPr>
        <p:spPr>
          <a:xfrm>
            <a:off x="2121407" y="2589644"/>
            <a:ext cx="3840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Одно показание на счётчик и месяц</a:t>
            </a:r>
          </a:p>
        </p:txBody>
      </p:sp>
      <p:sp>
        <p:nvSpPr>
          <p:cNvPr id="232" name="Rectangle 13"/>
          <p:cNvSpPr/>
          <p:nvPr/>
        </p:nvSpPr>
        <p:spPr>
          <a:xfrm>
            <a:off x="384047" y="3610101"/>
            <a:ext cx="5623562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14"/>
          <p:cNvSpPr txBox="1"/>
          <p:nvPr/>
        </p:nvSpPr>
        <p:spPr>
          <a:xfrm>
            <a:off x="384047" y="3211436"/>
            <a:ext cx="16642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payments</a:t>
            </a:r>
          </a:p>
        </p:txBody>
      </p:sp>
      <p:sp>
        <p:nvSpPr>
          <p:cNvPr id="234" name="TextBox 15"/>
          <p:cNvSpPr txBox="1"/>
          <p:nvPr/>
        </p:nvSpPr>
        <p:spPr>
          <a:xfrm>
            <a:off x="2121407" y="3211436"/>
            <a:ext cx="3840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Отметка месяца. Денег не переводит</a:t>
            </a:r>
          </a:p>
        </p:txBody>
      </p:sp>
      <p:sp>
        <p:nvSpPr>
          <p:cNvPr id="235" name="Rectangle 16"/>
          <p:cNvSpPr/>
          <p:nvPr/>
        </p:nvSpPr>
        <p:spPr>
          <a:xfrm>
            <a:off x="384047" y="4231893"/>
            <a:ext cx="5623562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17"/>
          <p:cNvSpPr txBox="1"/>
          <p:nvPr/>
        </p:nvSpPr>
        <p:spPr>
          <a:xfrm>
            <a:off x="384047" y="3833228"/>
            <a:ext cx="16642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documents</a:t>
            </a:r>
          </a:p>
        </p:txBody>
      </p:sp>
      <p:sp>
        <p:nvSpPr>
          <p:cNvPr id="237" name="TextBox 18"/>
          <p:cNvSpPr txBox="1"/>
          <p:nvPr/>
        </p:nvSpPr>
        <p:spPr>
          <a:xfrm>
            <a:off x="2121407" y="3833228"/>
            <a:ext cx="3840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Архив и видимость по поколению</a:t>
            </a:r>
          </a:p>
        </p:txBody>
      </p:sp>
      <p:sp>
        <p:nvSpPr>
          <p:cNvPr id="238" name="Rectangle 19"/>
          <p:cNvSpPr/>
          <p:nvPr/>
        </p:nvSpPr>
        <p:spPr>
          <a:xfrm>
            <a:off x="384047" y="4853686"/>
            <a:ext cx="5623562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20"/>
          <p:cNvSpPr txBox="1"/>
          <p:nvPr/>
        </p:nvSpPr>
        <p:spPr>
          <a:xfrm>
            <a:off x="384047" y="4455020"/>
            <a:ext cx="16642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calendar</a:t>
            </a:r>
          </a:p>
        </p:txBody>
      </p:sp>
      <p:sp>
        <p:nvSpPr>
          <p:cNvPr id="240" name="TextBox 21"/>
          <p:cNvSpPr txBox="1"/>
          <p:nvPr/>
        </p:nvSpPr>
        <p:spPr>
          <a:xfrm>
            <a:off x="2121407" y="4455020"/>
            <a:ext cx="3840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Задачи показаний, платежа, обслуживания</a:t>
            </a:r>
          </a:p>
        </p:txBody>
      </p:sp>
      <p:sp>
        <p:nvSpPr>
          <p:cNvPr id="241" name="Rectangle 22"/>
          <p:cNvSpPr/>
          <p:nvPr/>
        </p:nvSpPr>
        <p:spPr>
          <a:xfrm>
            <a:off x="384047" y="5475477"/>
            <a:ext cx="5623562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23"/>
          <p:cNvSpPr txBox="1"/>
          <p:nvPr/>
        </p:nvSpPr>
        <p:spPr>
          <a:xfrm>
            <a:off x="384047" y="5076812"/>
            <a:ext cx="16642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history</a:t>
            </a:r>
          </a:p>
        </p:txBody>
      </p:sp>
      <p:sp>
        <p:nvSpPr>
          <p:cNvPr id="243" name="TextBox 24"/>
          <p:cNvSpPr txBox="1"/>
          <p:nvPr/>
        </p:nvSpPr>
        <p:spPr>
          <a:xfrm>
            <a:off x="2121407" y="5076812"/>
            <a:ext cx="3840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Лента Premium. Источник не переписывает</a:t>
            </a:r>
          </a:p>
        </p:txBody>
      </p:sp>
      <p:sp>
        <p:nvSpPr>
          <p:cNvPr id="244" name="TextBox 25"/>
          <p:cNvSpPr txBox="1"/>
          <p:nvPr/>
        </p:nvSpPr>
        <p:spPr>
          <a:xfrm>
            <a:off x="6300216" y="1389888"/>
            <a:ext cx="5541265" cy="233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Вход, доступ и платформа</a:t>
            </a:r>
          </a:p>
        </p:txBody>
      </p:sp>
      <p:sp>
        <p:nvSpPr>
          <p:cNvPr id="245" name="Rectangle 26"/>
          <p:cNvSpPr/>
          <p:nvPr/>
        </p:nvSpPr>
        <p:spPr>
          <a:xfrm>
            <a:off x="6281928" y="2275077"/>
            <a:ext cx="5623561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27"/>
          <p:cNvSpPr txBox="1"/>
          <p:nvPr/>
        </p:nvSpPr>
        <p:spPr>
          <a:xfrm>
            <a:off x="6281928" y="1922132"/>
            <a:ext cx="16642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api-gateway</a:t>
            </a:r>
          </a:p>
        </p:txBody>
      </p:sp>
      <p:sp>
        <p:nvSpPr>
          <p:cNvPr id="247" name="TextBox 28"/>
          <p:cNvSpPr txBox="1"/>
          <p:nvPr/>
        </p:nvSpPr>
        <p:spPr>
          <a:xfrm>
            <a:off x="8019288" y="1922132"/>
            <a:ext cx="38404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Единственный вход. JWT, без своей базы</a:t>
            </a:r>
          </a:p>
        </p:txBody>
      </p:sp>
      <p:sp>
        <p:nvSpPr>
          <p:cNvPr id="248" name="Rectangle 29"/>
          <p:cNvSpPr/>
          <p:nvPr/>
        </p:nvSpPr>
        <p:spPr>
          <a:xfrm>
            <a:off x="6281928" y="2805429"/>
            <a:ext cx="5623561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30"/>
          <p:cNvSpPr txBox="1"/>
          <p:nvPr/>
        </p:nvSpPr>
        <p:spPr>
          <a:xfrm>
            <a:off x="6281928" y="2452484"/>
            <a:ext cx="16642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identity</a:t>
            </a:r>
          </a:p>
        </p:txBody>
      </p:sp>
      <p:sp>
        <p:nvSpPr>
          <p:cNvPr id="250" name="TextBox 31"/>
          <p:cNvSpPr txBox="1"/>
          <p:nvPr/>
        </p:nvSpPr>
        <p:spPr>
          <a:xfrm>
            <a:off x="8019288" y="2452484"/>
            <a:ext cx="38404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Сессия и одноразовый код по SMS</a:t>
            </a:r>
          </a:p>
        </p:txBody>
      </p:sp>
      <p:sp>
        <p:nvSpPr>
          <p:cNvPr id="251" name="Rectangle 32"/>
          <p:cNvSpPr/>
          <p:nvPr/>
        </p:nvSpPr>
        <p:spPr>
          <a:xfrm>
            <a:off x="6281928" y="3335781"/>
            <a:ext cx="5623561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33"/>
          <p:cNvSpPr txBox="1"/>
          <p:nvPr/>
        </p:nvSpPr>
        <p:spPr>
          <a:xfrm>
            <a:off x="6281928" y="2982836"/>
            <a:ext cx="16642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billing</a:t>
            </a:r>
          </a:p>
        </p:txBody>
      </p:sp>
      <p:sp>
        <p:nvSpPr>
          <p:cNvPr id="253" name="TextBox 34"/>
          <p:cNvSpPr txBox="1"/>
          <p:nvPr/>
        </p:nvSpPr>
        <p:spPr>
          <a:xfrm>
            <a:off x="8019288" y="2982836"/>
            <a:ext cx="38404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Premium и лимит квартир: 1 или 5</a:t>
            </a:r>
          </a:p>
        </p:txBody>
      </p:sp>
      <p:sp>
        <p:nvSpPr>
          <p:cNvPr id="254" name="Rectangle 35"/>
          <p:cNvSpPr/>
          <p:nvPr/>
        </p:nvSpPr>
        <p:spPr>
          <a:xfrm>
            <a:off x="6281928" y="3866133"/>
            <a:ext cx="5623561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TextBox 36"/>
          <p:cNvSpPr txBox="1"/>
          <p:nvPr/>
        </p:nvSpPr>
        <p:spPr>
          <a:xfrm>
            <a:off x="6281928" y="3513188"/>
            <a:ext cx="16642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membership</a:t>
            </a:r>
          </a:p>
        </p:txBody>
      </p:sp>
      <p:sp>
        <p:nvSpPr>
          <p:cNvPr id="256" name="TextBox 37"/>
          <p:cNvSpPr txBox="1"/>
          <p:nvPr/>
        </p:nvSpPr>
        <p:spPr>
          <a:xfrm>
            <a:off x="8019288" y="3513188"/>
            <a:ext cx="38404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Стороны, owner, приглашение на 7 дней</a:t>
            </a:r>
          </a:p>
        </p:txBody>
      </p:sp>
      <p:sp>
        <p:nvSpPr>
          <p:cNvPr id="257" name="Rectangle 38"/>
          <p:cNvSpPr/>
          <p:nvPr/>
        </p:nvSpPr>
        <p:spPr>
          <a:xfrm>
            <a:off x="6281928" y="4396486"/>
            <a:ext cx="5623561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39"/>
          <p:cNvSpPr txBox="1"/>
          <p:nvPr/>
        </p:nvSpPr>
        <p:spPr>
          <a:xfrm>
            <a:off x="6281928" y="4043540"/>
            <a:ext cx="16642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media</a:t>
            </a:r>
          </a:p>
        </p:txBody>
      </p:sp>
      <p:sp>
        <p:nvSpPr>
          <p:cNvPr id="259" name="TextBox 40"/>
          <p:cNvSpPr txBox="1"/>
          <p:nvPr/>
        </p:nvSpPr>
        <p:spPr>
          <a:xfrm>
            <a:off x="8019288" y="3941940"/>
            <a:ext cx="3840480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Байты в S3. Скачивание снова проверяет доступ</a:t>
            </a:r>
          </a:p>
        </p:txBody>
      </p:sp>
      <p:sp>
        <p:nvSpPr>
          <p:cNvPr id="260" name="Rectangle 41"/>
          <p:cNvSpPr/>
          <p:nvPr/>
        </p:nvSpPr>
        <p:spPr>
          <a:xfrm>
            <a:off x="6281928" y="4926837"/>
            <a:ext cx="5623561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42"/>
          <p:cNvSpPr txBox="1"/>
          <p:nvPr/>
        </p:nvSpPr>
        <p:spPr>
          <a:xfrm>
            <a:off x="6281928" y="4573892"/>
            <a:ext cx="16642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notification</a:t>
            </a:r>
          </a:p>
        </p:txBody>
      </p:sp>
      <p:sp>
        <p:nvSpPr>
          <p:cNvPr id="262" name="TextBox 43"/>
          <p:cNvSpPr txBox="1"/>
          <p:nvPr/>
        </p:nvSpPr>
        <p:spPr>
          <a:xfrm>
            <a:off x="8019288" y="4573892"/>
            <a:ext cx="38404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Один пуш на задачу, день и тип</a:t>
            </a:r>
          </a:p>
        </p:txBody>
      </p:sp>
      <p:sp>
        <p:nvSpPr>
          <p:cNvPr id="263" name="Rectangle 44"/>
          <p:cNvSpPr/>
          <p:nvPr/>
        </p:nvSpPr>
        <p:spPr>
          <a:xfrm>
            <a:off x="6281928" y="5457189"/>
            <a:ext cx="5623561" cy="12701"/>
          </a:xfrm>
          <a:prstGeom prst="rect">
            <a:avLst/>
          </a:prstGeom>
          <a:solidFill>
            <a:srgbClr val="E4DF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45"/>
          <p:cNvSpPr txBox="1"/>
          <p:nvPr/>
        </p:nvSpPr>
        <p:spPr>
          <a:xfrm>
            <a:off x="6281928" y="5104244"/>
            <a:ext cx="16642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265" name="TextBox 46"/>
          <p:cNvSpPr txBox="1"/>
          <p:nvPr/>
        </p:nvSpPr>
        <p:spPr>
          <a:xfrm>
            <a:off x="8019288" y="5104244"/>
            <a:ext cx="38404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Четыре готовые карточки</a:t>
            </a:r>
          </a:p>
        </p:txBody>
      </p:sp>
      <p:sp>
        <p:nvSpPr>
          <p:cNvPr id="266" name="Rectangle 47"/>
          <p:cNvSpPr/>
          <p:nvPr/>
        </p:nvSpPr>
        <p:spPr>
          <a:xfrm>
            <a:off x="438912" y="6472174"/>
            <a:ext cx="11320272" cy="12701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48"/>
          <p:cNvSpPr txBox="1"/>
          <p:nvPr/>
        </p:nvSpPr>
        <p:spPr>
          <a:xfrm>
            <a:off x="457200" y="6510528"/>
            <a:ext cx="54498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268" name="TextBox 49"/>
          <p:cNvSpPr txBox="1"/>
          <p:nvPr/>
        </p:nvSpPr>
        <p:spPr>
          <a:xfrm>
            <a:off x="8705088" y="6510528"/>
            <a:ext cx="3026664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  / 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BF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Rectangle 2"/>
          <p:cNvSpPr/>
          <p:nvPr/>
        </p:nvSpPr>
        <p:spPr>
          <a:xfrm>
            <a:off x="-1" y="0"/>
            <a:ext cx="73154" cy="6858000"/>
          </a:xfrm>
          <a:prstGeom prst="rect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3"/>
          <p:cNvSpPr txBox="1"/>
          <p:nvPr/>
        </p:nvSpPr>
        <p:spPr>
          <a:xfrm>
            <a:off x="402335" y="201168"/>
            <a:ext cx="72786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273" name="TextBox 4"/>
          <p:cNvSpPr txBox="1"/>
          <p:nvPr/>
        </p:nvSpPr>
        <p:spPr>
          <a:xfrm>
            <a:off x="402336" y="420623"/>
            <a:ext cx="11301984" cy="431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Почему River</a:t>
            </a:r>
          </a:p>
        </p:txBody>
      </p:sp>
      <p:sp>
        <p:nvSpPr>
          <p:cNvPr id="274" name="TextBox 5"/>
          <p:cNvSpPr txBox="1"/>
          <p:nvPr/>
        </p:nvSpPr>
        <p:spPr>
          <a:xfrm>
            <a:off x="402336" y="896111"/>
            <a:ext cx="11301984" cy="24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Задача вставляется в той же транзакции, что и факт. Транзакция откатилась — задачи тоже нет.</a:t>
            </a:r>
          </a:p>
        </p:txBody>
      </p:sp>
      <p:sp>
        <p:nvSpPr>
          <p:cNvPr id="275" name="Rectangle 6"/>
          <p:cNvSpPr/>
          <p:nvPr/>
        </p:nvSpPr>
        <p:spPr>
          <a:xfrm>
            <a:off x="384048" y="1481327"/>
            <a:ext cx="11411712" cy="384049"/>
          </a:xfrm>
          <a:prstGeom prst="rect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7"/>
          <p:cNvSpPr txBox="1"/>
          <p:nvPr/>
        </p:nvSpPr>
        <p:spPr>
          <a:xfrm>
            <a:off x="502920" y="1580802"/>
            <a:ext cx="283464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Инструмент</a:t>
            </a:r>
          </a:p>
        </p:txBody>
      </p:sp>
      <p:sp>
        <p:nvSpPr>
          <p:cNvPr id="277" name="TextBox 8"/>
          <p:cNvSpPr txBox="1"/>
          <p:nvPr/>
        </p:nvSpPr>
        <p:spPr>
          <a:xfrm>
            <a:off x="3383279" y="1580802"/>
            <a:ext cx="48463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Где лежит задача</a:t>
            </a:r>
          </a:p>
        </p:txBody>
      </p:sp>
      <p:sp>
        <p:nvSpPr>
          <p:cNvPr id="278" name="TextBox 9"/>
          <p:cNvSpPr txBox="1"/>
          <p:nvPr/>
        </p:nvSpPr>
        <p:spPr>
          <a:xfrm>
            <a:off x="8321040" y="1580802"/>
            <a:ext cx="32918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279" name="Rectangle 10"/>
          <p:cNvSpPr/>
          <p:nvPr/>
        </p:nvSpPr>
        <p:spPr>
          <a:xfrm>
            <a:off x="384048" y="1865376"/>
            <a:ext cx="11411712" cy="566929"/>
          </a:xfrm>
          <a:prstGeom prst="rect">
            <a:avLst/>
          </a:prstGeom>
          <a:solidFill>
            <a:srgbClr val="E7EE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TextBox 11"/>
          <p:cNvSpPr txBox="1"/>
          <p:nvPr/>
        </p:nvSpPr>
        <p:spPr>
          <a:xfrm>
            <a:off x="502920" y="2044006"/>
            <a:ext cx="283464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River</a:t>
            </a:r>
          </a:p>
        </p:txBody>
      </p:sp>
      <p:sp>
        <p:nvSpPr>
          <p:cNvPr id="281" name="TextBox 12"/>
          <p:cNvSpPr txBox="1"/>
          <p:nvPr/>
        </p:nvSpPr>
        <p:spPr>
          <a:xfrm>
            <a:off x="3383279" y="2044006"/>
            <a:ext cx="48463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Таблицы Postgres этого домена</a:t>
            </a:r>
          </a:p>
        </p:txBody>
      </p:sp>
      <p:sp>
        <p:nvSpPr>
          <p:cNvPr id="282" name="TextBox 13"/>
          <p:cNvSpPr txBox="1"/>
          <p:nvPr/>
        </p:nvSpPr>
        <p:spPr>
          <a:xfrm>
            <a:off x="8321040" y="2044006"/>
            <a:ext cx="329184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Берём</a:t>
            </a:r>
          </a:p>
        </p:txBody>
      </p:sp>
      <p:sp>
        <p:nvSpPr>
          <p:cNvPr id="283" name="TextBox 15"/>
          <p:cNvSpPr txBox="1"/>
          <p:nvPr/>
        </p:nvSpPr>
        <p:spPr>
          <a:xfrm>
            <a:off x="502920" y="2610934"/>
            <a:ext cx="283464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Asynq</a:t>
            </a:r>
          </a:p>
        </p:txBody>
      </p:sp>
      <p:sp>
        <p:nvSpPr>
          <p:cNvPr id="284" name="TextBox 16"/>
          <p:cNvSpPr txBox="1"/>
          <p:nvPr/>
        </p:nvSpPr>
        <p:spPr>
          <a:xfrm>
            <a:off x="3383279" y="2610934"/>
            <a:ext cx="48463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Redis, отдельным шагом после коммита</a:t>
            </a:r>
          </a:p>
        </p:txBody>
      </p:sp>
      <p:sp>
        <p:nvSpPr>
          <p:cNvPr id="285" name="TextBox 17"/>
          <p:cNvSpPr txBox="1"/>
          <p:nvPr/>
        </p:nvSpPr>
        <p:spPr>
          <a:xfrm>
            <a:off x="8321040" y="2610934"/>
            <a:ext cx="329184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Не берём</a:t>
            </a:r>
          </a:p>
        </p:txBody>
      </p:sp>
      <p:sp>
        <p:nvSpPr>
          <p:cNvPr id="286" name="Rectangle 18"/>
          <p:cNvSpPr/>
          <p:nvPr/>
        </p:nvSpPr>
        <p:spPr>
          <a:xfrm>
            <a:off x="493776" y="3134817"/>
            <a:ext cx="11301984" cy="431344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TextBox 19"/>
          <p:cNvSpPr txBox="1"/>
          <p:nvPr/>
        </p:nvSpPr>
        <p:spPr>
          <a:xfrm>
            <a:off x="502920" y="3177862"/>
            <a:ext cx="283464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RabbitMQ как очередь</a:t>
            </a:r>
          </a:p>
        </p:txBody>
      </p:sp>
      <p:sp>
        <p:nvSpPr>
          <p:cNvPr id="288" name="TextBox 20"/>
          <p:cNvSpPr txBox="1"/>
          <p:nvPr/>
        </p:nvSpPr>
        <p:spPr>
          <a:xfrm>
            <a:off x="3383279" y="3177862"/>
            <a:ext cx="48463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Брокер, вне транзакции Postgres</a:t>
            </a:r>
          </a:p>
        </p:txBody>
      </p:sp>
      <p:sp>
        <p:nvSpPr>
          <p:cNvPr id="289" name="TextBox 21"/>
          <p:cNvSpPr txBox="1"/>
          <p:nvPr/>
        </p:nvSpPr>
        <p:spPr>
          <a:xfrm>
            <a:off x="8321040" y="3177862"/>
            <a:ext cx="329184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Не заменяет River</a:t>
            </a:r>
          </a:p>
        </p:txBody>
      </p:sp>
      <p:sp>
        <p:nvSpPr>
          <p:cNvPr id="290" name="Rectangle 22"/>
          <p:cNvSpPr/>
          <p:nvPr/>
        </p:nvSpPr>
        <p:spPr>
          <a:xfrm>
            <a:off x="384048" y="3566159"/>
            <a:ext cx="11411712" cy="566929"/>
          </a:xfrm>
          <a:prstGeom prst="rect">
            <a:avLst/>
          </a:prstGeom>
          <a:solidFill>
            <a:srgbClr val="FBF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TextBox 23"/>
          <p:cNvSpPr txBox="1"/>
          <p:nvPr/>
        </p:nvSpPr>
        <p:spPr>
          <a:xfrm>
            <a:off x="502920" y="3744789"/>
            <a:ext cx="2834640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Temporal</a:t>
            </a:r>
          </a:p>
        </p:txBody>
      </p:sp>
      <p:sp>
        <p:nvSpPr>
          <p:cNvPr id="292" name="TextBox 24"/>
          <p:cNvSpPr txBox="1"/>
          <p:nvPr/>
        </p:nvSpPr>
        <p:spPr>
          <a:xfrm>
            <a:off x="3383279" y="3744789"/>
            <a:ext cx="484632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Свой кластер процессов и таймеров</a:t>
            </a:r>
          </a:p>
        </p:txBody>
      </p:sp>
      <p:sp>
        <p:nvSpPr>
          <p:cNvPr id="293" name="TextBox 25"/>
          <p:cNvSpPr txBox="1"/>
          <p:nvPr/>
        </p:nvSpPr>
        <p:spPr>
          <a:xfrm>
            <a:off x="8321040" y="3744789"/>
            <a:ext cx="32918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Сага не нужна</a:t>
            </a:r>
          </a:p>
        </p:txBody>
      </p:sp>
      <p:sp>
        <p:nvSpPr>
          <p:cNvPr id="294" name="Rectangle 26"/>
          <p:cNvSpPr/>
          <p:nvPr/>
        </p:nvSpPr>
        <p:spPr>
          <a:xfrm>
            <a:off x="384048" y="4133088"/>
            <a:ext cx="11411712" cy="566929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extBox 27"/>
          <p:cNvSpPr txBox="1"/>
          <p:nvPr/>
        </p:nvSpPr>
        <p:spPr>
          <a:xfrm>
            <a:off x="502920" y="4311718"/>
            <a:ext cx="283464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NATS JetStream</a:t>
            </a:r>
          </a:p>
        </p:txBody>
      </p:sp>
      <p:sp>
        <p:nvSpPr>
          <p:cNvPr id="296" name="TextBox 28"/>
          <p:cNvSpPr txBox="1"/>
          <p:nvPr/>
        </p:nvSpPr>
        <p:spPr>
          <a:xfrm>
            <a:off x="3383279" y="4311718"/>
            <a:ext cx="48463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Поток фактов на трёх узлах</a:t>
            </a:r>
          </a:p>
        </p:txBody>
      </p:sp>
      <p:sp>
        <p:nvSpPr>
          <p:cNvPr id="297" name="TextBox 29"/>
          <p:cNvSpPr txBox="1"/>
          <p:nvPr/>
        </p:nvSpPr>
        <p:spPr>
          <a:xfrm>
            <a:off x="8321040" y="4311718"/>
            <a:ext cx="329184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Остаётся шиной</a:t>
            </a:r>
          </a:p>
        </p:txBody>
      </p:sp>
      <p:sp>
        <p:nvSpPr>
          <p:cNvPr id="298" name="Rectangle 30"/>
          <p:cNvSpPr/>
          <p:nvPr/>
        </p:nvSpPr>
        <p:spPr>
          <a:xfrm>
            <a:off x="384048" y="5349240"/>
            <a:ext cx="11411712" cy="960121"/>
          </a:xfrm>
          <a:prstGeom prst="rect">
            <a:avLst/>
          </a:prstGeom>
          <a:solidFill>
            <a:srgbClr val="F3F0E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31"/>
          <p:cNvSpPr txBox="1"/>
          <p:nvPr/>
        </p:nvSpPr>
        <p:spPr>
          <a:xfrm>
            <a:off x="548639" y="5440679"/>
            <a:ext cx="1106424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River внутри домена</a:t>
            </a:r>
          </a:p>
        </p:txBody>
      </p:sp>
      <p:sp>
        <p:nvSpPr>
          <p:cNvPr id="300" name="TextBox 32"/>
          <p:cNvSpPr txBox="1"/>
          <p:nvPr/>
        </p:nvSpPr>
        <p:spPr>
          <a:xfrm>
            <a:off x="548639" y="5760720"/>
            <a:ext cx="1106424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Открыть задачи месяца, дослать outbox, повторить пуш, снять просроченный резерв файла, дочистить приглашение.</a:t>
            </a:r>
          </a:p>
        </p:txBody>
      </p:sp>
      <p:sp>
        <p:nvSpPr>
          <p:cNvPr id="301" name="Rectangle 33"/>
          <p:cNvSpPr/>
          <p:nvPr/>
        </p:nvSpPr>
        <p:spPr>
          <a:xfrm>
            <a:off x="438912" y="6472174"/>
            <a:ext cx="11320272" cy="12701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34"/>
          <p:cNvSpPr txBox="1"/>
          <p:nvPr/>
        </p:nvSpPr>
        <p:spPr>
          <a:xfrm>
            <a:off x="457200" y="6510528"/>
            <a:ext cx="54498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303" name="TextBox 35"/>
          <p:cNvSpPr txBox="1"/>
          <p:nvPr/>
        </p:nvSpPr>
        <p:spPr>
          <a:xfrm>
            <a:off x="8705088" y="6510528"/>
            <a:ext cx="3026664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 / 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BF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2"/>
          <p:cNvSpPr/>
          <p:nvPr/>
        </p:nvSpPr>
        <p:spPr>
          <a:xfrm>
            <a:off x="-1" y="0"/>
            <a:ext cx="73154" cy="6858000"/>
          </a:xfrm>
          <a:prstGeom prst="rect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3"/>
          <p:cNvSpPr txBox="1"/>
          <p:nvPr/>
        </p:nvSpPr>
        <p:spPr>
          <a:xfrm>
            <a:off x="402335" y="201168"/>
            <a:ext cx="72786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308" name="TextBox 4"/>
          <p:cNvSpPr txBox="1"/>
          <p:nvPr/>
        </p:nvSpPr>
        <p:spPr>
          <a:xfrm>
            <a:off x="402336" y="420623"/>
            <a:ext cx="11301984" cy="431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План работ</a:t>
            </a:r>
          </a:p>
        </p:txBody>
      </p:sp>
      <p:sp>
        <p:nvSpPr>
          <p:cNvPr id="309" name="Oval 5"/>
          <p:cNvSpPr/>
          <p:nvPr/>
        </p:nvSpPr>
        <p:spPr>
          <a:xfrm>
            <a:off x="438912" y="1252728"/>
            <a:ext cx="438913" cy="438912"/>
          </a:xfrm>
          <a:prstGeom prst="ellipse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6"/>
          <p:cNvSpPr txBox="1"/>
          <p:nvPr/>
        </p:nvSpPr>
        <p:spPr>
          <a:xfrm>
            <a:off x="438912" y="1361207"/>
            <a:ext cx="43891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11" name="TextBox 7"/>
          <p:cNvSpPr txBox="1"/>
          <p:nvPr/>
        </p:nvSpPr>
        <p:spPr>
          <a:xfrm>
            <a:off x="1051560" y="1188719"/>
            <a:ext cx="105156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Контракт</a:t>
            </a:r>
          </a:p>
        </p:txBody>
      </p:sp>
      <p:sp>
        <p:nvSpPr>
          <p:cNvPr id="312" name="TextBox 8"/>
          <p:cNvSpPr txBox="1"/>
          <p:nvPr/>
        </p:nvSpPr>
        <p:spPr>
          <a:xfrm>
            <a:off x="1051560" y="1527047"/>
            <a:ext cx="1051560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Хендлеры по OpenAPI, gRPC от gateway к доменам, проверка JWT и Idempotency-Key.</a:t>
            </a:r>
          </a:p>
        </p:txBody>
      </p:sp>
      <p:sp>
        <p:nvSpPr>
          <p:cNvPr id="313" name="Oval 9"/>
          <p:cNvSpPr/>
          <p:nvPr/>
        </p:nvSpPr>
        <p:spPr>
          <a:xfrm>
            <a:off x="438912" y="2304288"/>
            <a:ext cx="438913" cy="438913"/>
          </a:xfrm>
          <a:prstGeom prst="ellipse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0"/>
          <p:cNvSpPr txBox="1"/>
          <p:nvPr/>
        </p:nvSpPr>
        <p:spPr>
          <a:xfrm>
            <a:off x="438912" y="2412767"/>
            <a:ext cx="43891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5" name="TextBox 11"/>
          <p:cNvSpPr txBox="1"/>
          <p:nvPr/>
        </p:nvSpPr>
        <p:spPr>
          <a:xfrm>
            <a:off x="1051560" y="2240278"/>
            <a:ext cx="105156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Таблицы доменов</a:t>
            </a:r>
          </a:p>
        </p:txBody>
      </p:sp>
      <p:sp>
        <p:nvSpPr>
          <p:cNvPr id="316" name="TextBox 12"/>
          <p:cNvSpPr txBox="1"/>
          <p:nvPr/>
        </p:nvSpPr>
        <p:spPr>
          <a:xfrm>
            <a:off x="1051560" y="2578607"/>
            <a:ext cx="1051560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Схемы вместо маркера app_meta. API ходит в базу через пулер, worker River — напрямую.</a:t>
            </a:r>
          </a:p>
        </p:txBody>
      </p:sp>
      <p:sp>
        <p:nvSpPr>
          <p:cNvPr id="317" name="Oval 13"/>
          <p:cNvSpPr/>
          <p:nvPr/>
        </p:nvSpPr>
        <p:spPr>
          <a:xfrm>
            <a:off x="438912" y="3355847"/>
            <a:ext cx="438913" cy="438913"/>
          </a:xfrm>
          <a:prstGeom prst="ellipse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TextBox 14"/>
          <p:cNvSpPr txBox="1"/>
          <p:nvPr/>
        </p:nvSpPr>
        <p:spPr>
          <a:xfrm>
            <a:off x="438912" y="3464327"/>
            <a:ext cx="43891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9" name="TextBox 15"/>
          <p:cNvSpPr txBox="1"/>
          <p:nvPr/>
        </p:nvSpPr>
        <p:spPr>
          <a:xfrm>
            <a:off x="1051560" y="3291838"/>
            <a:ext cx="105156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Факты</a:t>
            </a:r>
          </a:p>
        </p:txBody>
      </p:sp>
      <p:sp>
        <p:nvSpPr>
          <p:cNvPr id="320" name="TextBox 16"/>
          <p:cNvSpPr txBox="1"/>
          <p:nvPr/>
        </p:nvSpPr>
        <p:spPr>
          <a:xfrm>
            <a:off x="1051560" y="3630167"/>
            <a:ext cx="1051560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Воркер River, outbox и inbox. Публикация в JetStream только после коммита.</a:t>
            </a:r>
          </a:p>
        </p:txBody>
      </p:sp>
      <p:sp>
        <p:nvSpPr>
          <p:cNvPr id="321" name="Oval 17"/>
          <p:cNvSpPr/>
          <p:nvPr/>
        </p:nvSpPr>
        <p:spPr>
          <a:xfrm>
            <a:off x="438912" y="4407406"/>
            <a:ext cx="438913" cy="438913"/>
          </a:xfrm>
          <a:prstGeom prst="ellipse">
            <a:avLst/>
          </a:prstGeom>
          <a:solidFill>
            <a:srgbClr val="1B3A4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TextBox 18"/>
          <p:cNvSpPr txBox="1"/>
          <p:nvPr/>
        </p:nvSpPr>
        <p:spPr>
          <a:xfrm>
            <a:off x="438912" y="4515886"/>
            <a:ext cx="43891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3" name="TextBox 19"/>
          <p:cNvSpPr txBox="1"/>
          <p:nvPr/>
        </p:nvSpPr>
        <p:spPr>
          <a:xfrm>
            <a:off x="1051560" y="4343398"/>
            <a:ext cx="105156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Края</a:t>
            </a:r>
          </a:p>
        </p:txBody>
      </p:sp>
      <p:sp>
        <p:nvSpPr>
          <p:cNvPr id="324" name="TextBox 20"/>
          <p:cNvSpPr txBox="1"/>
          <p:nvPr/>
        </p:nvSpPr>
        <p:spPr>
          <a:xfrm>
            <a:off x="1051560" y="4681727"/>
            <a:ext cx="105156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SMS, APNs, FCM, проверка чека магазина и presigned-загрузка в бакет media.</a:t>
            </a:r>
          </a:p>
        </p:txBody>
      </p:sp>
      <p:sp>
        <p:nvSpPr>
          <p:cNvPr id="325" name="TextBox 21"/>
          <p:cNvSpPr txBox="1"/>
          <p:nvPr/>
        </p:nvSpPr>
        <p:spPr>
          <a:xfrm>
            <a:off x="438911" y="5897879"/>
            <a:ext cx="1124712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Позже, не в ближайшем контуре: standby Postgres, Kubernetes, аутентификация и TLS у NATS.</a:t>
            </a:r>
          </a:p>
        </p:txBody>
      </p:sp>
      <p:sp>
        <p:nvSpPr>
          <p:cNvPr id="326" name="Rectangle 22"/>
          <p:cNvSpPr/>
          <p:nvPr/>
        </p:nvSpPr>
        <p:spPr>
          <a:xfrm>
            <a:off x="438912" y="6472174"/>
            <a:ext cx="11320272" cy="12701"/>
          </a:xfrm>
          <a:prstGeom prst="rect">
            <a:avLst/>
          </a:prstGeom>
          <a:solidFill>
            <a:srgbClr val="D9D4C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23"/>
          <p:cNvSpPr txBox="1"/>
          <p:nvPr/>
        </p:nvSpPr>
        <p:spPr>
          <a:xfrm>
            <a:off x="457200" y="6510528"/>
            <a:ext cx="5449825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Квартирник</a:t>
            </a:r>
          </a:p>
        </p:txBody>
      </p:sp>
      <p:sp>
        <p:nvSpPr>
          <p:cNvPr id="328" name="TextBox 24"/>
          <p:cNvSpPr txBox="1"/>
          <p:nvPr/>
        </p:nvSpPr>
        <p:spPr>
          <a:xfrm>
            <a:off x="8705088" y="6510528"/>
            <a:ext cx="3026664" cy="18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defRPr sz="1100">
                <a:solidFill>
                  <a:srgbClr val="5C5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  / 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